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BM Plex Sans"/>
      <p:regular r:id="rId14"/>
      <p:bold r:id="rId15"/>
      <p:italic r:id="rId16"/>
      <p:boldItalic r:id="rId17"/>
    </p:embeddedFont>
    <p:embeddedFont>
      <p:font typeface="Sora SemiBold"/>
      <p:regular r:id="rId18"/>
      <p:bold r:id="rId19"/>
    </p:embeddedFont>
    <p:embeddedFont>
      <p:font typeface="IBM Plex Sans Medium"/>
      <p:regular r:id="rId20"/>
      <p:bold r:id="rId21"/>
      <p:italic r:id="rId22"/>
      <p:boldItalic r:id="rId23"/>
    </p:embeddedFont>
    <p:embeddedFont>
      <p:font typeface="Sora Light"/>
      <p:regular r:id="rId24"/>
      <p:bold r:id="rId25"/>
    </p:embeddedFont>
    <p:embeddedFont>
      <p:font typeface="Sora ExtraLight"/>
      <p:regular r:id="rId26"/>
      <p:bold r:id="rId27"/>
    </p:embeddedFont>
    <p:embeddedFont>
      <p:font typeface="Sora"/>
      <p:regular r:id="rId28"/>
      <p:bold r:id="rId29"/>
    </p:embeddedFont>
    <p:embeddedFont>
      <p:font typeface="Sora Medium"/>
      <p:regular r:id="rId30"/>
      <p:bold r:id="rId31"/>
    </p:embeddedFont>
    <p:embeddedFont>
      <p:font typeface="IBM Plex Sa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Medium-bold.fntdata"/><Relationship Id="rId30" Type="http://schemas.openxmlformats.org/officeDocument/2006/relationships/font" Target="fonts/SoraMedium-regular.fntdata"/><Relationship Id="rId33" Type="http://schemas.openxmlformats.org/officeDocument/2006/relationships/font" Target="fonts/IBMPlexSansSemiBold-bold.fntdata"/><Relationship Id="rId32" Type="http://schemas.openxmlformats.org/officeDocument/2006/relationships/font" Target="fonts/IBMPlexSansSemiBold-regular.fntdata"/><Relationship Id="rId35" Type="http://schemas.openxmlformats.org/officeDocument/2006/relationships/font" Target="fonts/IBMPlexSansSemiBold-boldItalic.fntdata"/><Relationship Id="rId34" Type="http://schemas.openxmlformats.org/officeDocument/2006/relationships/font" Target="fonts/IBMPlexSansSemiBold-italic.fntdata"/><Relationship Id="rId20" Type="http://schemas.openxmlformats.org/officeDocument/2006/relationships/font" Target="fonts/IBMPlexSansMedium-regular.fntdata"/><Relationship Id="rId22" Type="http://schemas.openxmlformats.org/officeDocument/2006/relationships/font" Target="fonts/IBMPlexSansMedium-italic.fntdata"/><Relationship Id="rId21" Type="http://schemas.openxmlformats.org/officeDocument/2006/relationships/font" Target="fonts/IBMPlexSansMedium-bold.fntdata"/><Relationship Id="rId24" Type="http://schemas.openxmlformats.org/officeDocument/2006/relationships/font" Target="fonts/SoraLight-regular.fntdata"/><Relationship Id="rId23" Type="http://schemas.openxmlformats.org/officeDocument/2006/relationships/font" Target="fonts/IBMPlexSansMedium-boldItalic.fntdata"/><Relationship Id="rId26" Type="http://schemas.openxmlformats.org/officeDocument/2006/relationships/font" Target="fonts/SoraExtraLight-regular.fntdata"/><Relationship Id="rId25" Type="http://schemas.openxmlformats.org/officeDocument/2006/relationships/font" Target="fonts/SoraLight-bold.fntdata"/><Relationship Id="rId28" Type="http://schemas.openxmlformats.org/officeDocument/2006/relationships/font" Target="fonts/Sora-regular.fntdata"/><Relationship Id="rId27" Type="http://schemas.openxmlformats.org/officeDocument/2006/relationships/font" Target="fonts/SoraExtraLight-bold.fntdata"/><Relationship Id="rId29" Type="http://schemas.openxmlformats.org/officeDocument/2006/relationships/font" Target="fonts/Sor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BMPlexSans-bold.fntdata"/><Relationship Id="rId14" Type="http://schemas.openxmlformats.org/officeDocument/2006/relationships/font" Target="fonts/IBMPlexSans-regular.fntdata"/><Relationship Id="rId17" Type="http://schemas.openxmlformats.org/officeDocument/2006/relationships/font" Target="fonts/IBMPlexSans-boldItalic.fntdata"/><Relationship Id="rId16" Type="http://schemas.openxmlformats.org/officeDocument/2006/relationships/font" Target="fonts/IBMPlexSans-italic.fntdata"/><Relationship Id="rId19" Type="http://schemas.openxmlformats.org/officeDocument/2006/relationships/font" Target="fonts/SoraSemiBold-bold.fntdata"/><Relationship Id="rId18" Type="http://schemas.openxmlformats.org/officeDocument/2006/relationships/font" Target="fonts/Sora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b41b6f1297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b41b6f1297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b41b6f12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b41b6f12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b41b6f1297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b41b6f1297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b41b6f1297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b41b6f1297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b41b6f1297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b41b6f1297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b41b6f1297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b41b6f1297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b41b6f1297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b41b6f1297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b41b6f1297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b41b6f1297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Edward Navarro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12/31/2025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Simple Calendar Presentation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5" name="Google Shape;895;p52"/>
          <p:cNvSpPr txBox="1"/>
          <p:nvPr>
            <p:ph idx="6" type="subTitle"/>
          </p:nvPr>
        </p:nvSpPr>
        <p:spPr>
          <a:xfrm>
            <a:off x="4482800" y="3450987"/>
            <a:ext cx="5179200" cy="361500"/>
          </a:xfrm>
          <a:prstGeom prst="rect">
            <a:avLst/>
          </a:prstGeom>
        </p:spPr>
        <p:txBody>
          <a:bodyPr anchorCtr="0" anchor="b" bIns="119200" lIns="0" spcFirstLastPara="1" rIns="119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3"/>
              <a:t>How to Run and Test</a:t>
            </a:r>
            <a:endParaRPr sz="1303"/>
          </a:p>
        </p:txBody>
      </p:sp>
      <p:sp>
        <p:nvSpPr>
          <p:cNvPr id="896" name="Google Shape;896;p52"/>
          <p:cNvSpPr txBox="1"/>
          <p:nvPr>
            <p:ph idx="7" type="subTitle"/>
          </p:nvPr>
        </p:nvSpPr>
        <p:spPr>
          <a:xfrm>
            <a:off x="4482800" y="3147402"/>
            <a:ext cx="1930800" cy="258600"/>
          </a:xfrm>
          <a:prstGeom prst="rect">
            <a:avLst/>
          </a:prstGeom>
        </p:spPr>
        <p:txBody>
          <a:bodyPr anchorCtr="0" anchor="t" bIns="119200" lIns="0" spcFirstLastPara="1" rIns="119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25"/>
              <a:t>4</a:t>
            </a:r>
            <a:r>
              <a:rPr b="0" lang="en" sz="1825"/>
              <a:t>.</a:t>
            </a:r>
            <a:endParaRPr b="0" sz="1825"/>
          </a:p>
        </p:txBody>
      </p:sp>
      <p:sp>
        <p:nvSpPr>
          <p:cNvPr id="897" name="Google Shape;897;p52"/>
          <p:cNvSpPr txBox="1"/>
          <p:nvPr>
            <p:ph idx="8" type="subTitle"/>
          </p:nvPr>
        </p:nvSpPr>
        <p:spPr>
          <a:xfrm>
            <a:off x="4482800" y="2756110"/>
            <a:ext cx="5179200" cy="361500"/>
          </a:xfrm>
          <a:prstGeom prst="rect">
            <a:avLst/>
          </a:prstGeom>
        </p:spPr>
        <p:txBody>
          <a:bodyPr anchorCtr="0" anchor="b" bIns="119200" lIns="0" spcFirstLastPara="1" rIns="119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3"/>
              <a:t>Key Files and Folders</a:t>
            </a:r>
            <a:endParaRPr sz="1303"/>
          </a:p>
        </p:txBody>
      </p:sp>
      <p:sp>
        <p:nvSpPr>
          <p:cNvPr id="898" name="Google Shape;898;p52"/>
          <p:cNvSpPr txBox="1"/>
          <p:nvPr>
            <p:ph idx="9" type="subTitle"/>
          </p:nvPr>
        </p:nvSpPr>
        <p:spPr>
          <a:xfrm>
            <a:off x="4482800" y="2452526"/>
            <a:ext cx="1930800" cy="258600"/>
          </a:xfrm>
          <a:prstGeom prst="rect">
            <a:avLst/>
          </a:prstGeom>
        </p:spPr>
        <p:txBody>
          <a:bodyPr anchorCtr="0" anchor="t" bIns="119200" lIns="0" spcFirstLastPara="1" rIns="119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25"/>
              <a:t>3.</a:t>
            </a:r>
            <a:endParaRPr b="0" sz="1825"/>
          </a:p>
        </p:txBody>
      </p:sp>
      <p:sp>
        <p:nvSpPr>
          <p:cNvPr id="899" name="Google Shape;899;p52"/>
          <p:cNvSpPr txBox="1"/>
          <p:nvPr>
            <p:ph idx="13" type="subTitle"/>
          </p:nvPr>
        </p:nvSpPr>
        <p:spPr>
          <a:xfrm>
            <a:off x="4482800" y="2061723"/>
            <a:ext cx="5179200" cy="361500"/>
          </a:xfrm>
          <a:prstGeom prst="rect">
            <a:avLst/>
          </a:prstGeom>
        </p:spPr>
        <p:txBody>
          <a:bodyPr anchorCtr="0" anchor="b" bIns="119200" lIns="0" spcFirstLastPara="1" rIns="119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3"/>
              <a:t>Updated Approach</a:t>
            </a:r>
            <a:endParaRPr sz="1303"/>
          </a:p>
        </p:txBody>
      </p:sp>
      <p:sp>
        <p:nvSpPr>
          <p:cNvPr id="900" name="Google Shape;900;p52"/>
          <p:cNvSpPr txBox="1"/>
          <p:nvPr>
            <p:ph idx="14" type="subTitle"/>
          </p:nvPr>
        </p:nvSpPr>
        <p:spPr>
          <a:xfrm>
            <a:off x="4482800" y="1758138"/>
            <a:ext cx="1930800" cy="258600"/>
          </a:xfrm>
          <a:prstGeom prst="rect">
            <a:avLst/>
          </a:prstGeom>
        </p:spPr>
        <p:txBody>
          <a:bodyPr anchorCtr="0" anchor="t" bIns="119200" lIns="0" spcFirstLastPara="1" rIns="119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25"/>
              <a:t>2</a:t>
            </a:r>
            <a:r>
              <a:rPr b="0" lang="en" sz="1825"/>
              <a:t>.</a:t>
            </a:r>
            <a:endParaRPr b="0" sz="1825"/>
          </a:p>
        </p:txBody>
      </p:sp>
      <p:sp>
        <p:nvSpPr>
          <p:cNvPr id="901" name="Google Shape;901;p52"/>
          <p:cNvSpPr txBox="1"/>
          <p:nvPr>
            <p:ph idx="15" type="subTitle"/>
          </p:nvPr>
        </p:nvSpPr>
        <p:spPr>
          <a:xfrm>
            <a:off x="4482800" y="1367335"/>
            <a:ext cx="5179200" cy="361500"/>
          </a:xfrm>
          <a:prstGeom prst="rect">
            <a:avLst/>
          </a:prstGeom>
        </p:spPr>
        <p:txBody>
          <a:bodyPr anchorCtr="0" anchor="b" bIns="119200" lIns="0" spcFirstLastPara="1" rIns="119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3"/>
              <a:t>Initial Approach</a:t>
            </a:r>
            <a:endParaRPr sz="1303"/>
          </a:p>
        </p:txBody>
      </p:sp>
      <p:sp>
        <p:nvSpPr>
          <p:cNvPr id="902" name="Google Shape;902;p52"/>
          <p:cNvSpPr txBox="1"/>
          <p:nvPr>
            <p:ph idx="16" type="subTitle"/>
          </p:nvPr>
        </p:nvSpPr>
        <p:spPr>
          <a:xfrm>
            <a:off x="4482800" y="1063750"/>
            <a:ext cx="1930800" cy="258600"/>
          </a:xfrm>
          <a:prstGeom prst="rect">
            <a:avLst/>
          </a:prstGeom>
        </p:spPr>
        <p:txBody>
          <a:bodyPr anchorCtr="0" anchor="t" bIns="119200" lIns="0" spcFirstLastPara="1" rIns="119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25"/>
              <a:t>1</a:t>
            </a:r>
            <a:r>
              <a:rPr b="0" lang="en" sz="1825"/>
              <a:t>.</a:t>
            </a:r>
            <a:endParaRPr b="0" sz="182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3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BM Plex Sans Medium"/>
                <a:ea typeface="IBM Plex Sans Medium"/>
                <a:cs typeface="IBM Plex Sans Medium"/>
                <a:sym typeface="IBM Plex Sans Medium"/>
              </a:rPr>
              <a:t>Pros</a:t>
            </a:r>
            <a:endParaRPr sz="2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O(1) insertion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Simple to read through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08" name="Google Shape;908;p53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BM Plex Sans Medium"/>
                <a:ea typeface="IBM Plex Sans Medium"/>
                <a:cs typeface="IBM Plex Sans Medium"/>
                <a:sym typeface="IBM Plex Sans Medium"/>
              </a:rPr>
              <a:t>Cons</a:t>
            </a:r>
            <a:endParaRPr sz="2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O(n) traversal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 sz="1400">
                <a:latin typeface="Sora Light"/>
                <a:ea typeface="Sora Light"/>
                <a:cs typeface="Sora Light"/>
                <a:sym typeface="Sora Light"/>
              </a:rPr>
              <a:t>Unsorted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09" name="Google Shape;909;p53"/>
          <p:cNvSpPr txBox="1"/>
          <p:nvPr>
            <p:ph idx="3" type="title"/>
          </p:nvPr>
        </p:nvSpPr>
        <p:spPr>
          <a:xfrm>
            <a:off x="115025" y="502775"/>
            <a:ext cx="3905400" cy="24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Initial Approach:</a:t>
            </a:r>
            <a:br>
              <a:rPr lang="en"/>
            </a:br>
            <a:r>
              <a:rPr lang="en"/>
              <a:t>Dictionary of Arraylists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4"/>
          <p:cNvSpPr txBox="1"/>
          <p:nvPr>
            <p:ph type="title"/>
          </p:nvPr>
        </p:nvSpPr>
        <p:spPr>
          <a:xfrm>
            <a:off x="115025" y="502775"/>
            <a:ext cx="41838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Updated Approach:</a:t>
            </a:r>
            <a:endParaRPr/>
          </a:p>
        </p:txBody>
      </p:sp>
      <p:sp>
        <p:nvSpPr>
          <p:cNvPr id="915" name="Google Shape;915;p54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TreeSet over ArrayList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O(logn) for EVERY operation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Sorted by definition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5"/>
          <p:cNvSpPr txBox="1"/>
          <p:nvPr>
            <p:ph type="title"/>
          </p:nvPr>
        </p:nvSpPr>
        <p:spPr>
          <a:xfrm>
            <a:off x="3154650" y="1709075"/>
            <a:ext cx="18390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SimpleCalendarApp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Frontend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21" name="Google Shape;921;p55"/>
          <p:cNvSpPr txBox="1"/>
          <p:nvPr>
            <p:ph idx="2" type="title"/>
          </p:nvPr>
        </p:nvSpPr>
        <p:spPr>
          <a:xfrm>
            <a:off x="6941000" y="1709075"/>
            <a:ext cx="21561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AppointmentManagerTest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Automatic Tests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22" name="Google Shape;922;p55"/>
          <p:cNvSpPr txBox="1"/>
          <p:nvPr>
            <p:ph idx="3" type="title"/>
          </p:nvPr>
        </p:nvSpPr>
        <p:spPr>
          <a:xfrm>
            <a:off x="5047819" y="1709075"/>
            <a:ext cx="18390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AppointmentManager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Backend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23" name="Google Shape;923;p5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src/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-&gt; main/java/com/eddien03/simplecalendar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	-&gt; AppointmentManager.java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	-&gt; Event.java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	-&gt; SimpleCalendar.java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-&gt; test</a:t>
            </a:r>
            <a:r>
              <a:rPr lang="en" sz="1000">
                <a:latin typeface="Sora"/>
                <a:ea typeface="Sora"/>
                <a:cs typeface="Sora"/>
                <a:sym typeface="Sora"/>
              </a:rPr>
              <a:t>/java/com/eddien03/simplecalendar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	-&gt; ApppintmentMangerTest.java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	-&gt; SimpleCalendarManualTests.java</a:t>
            </a:r>
            <a:endParaRPr/>
          </a:p>
        </p:txBody>
      </p:sp>
      <p:sp>
        <p:nvSpPr>
          <p:cNvPr id="924" name="Google Shape;924;p55"/>
          <p:cNvSpPr/>
          <p:nvPr/>
        </p:nvSpPr>
        <p:spPr>
          <a:xfrm flipH="1" rot="10800000">
            <a:off x="3265875" y="1627625"/>
            <a:ext cx="5878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/>
          <p:nvPr>
            <p:ph idx="4294967295" type="subTitle"/>
          </p:nvPr>
        </p:nvSpPr>
        <p:spPr>
          <a:xfrm>
            <a:off x="115025" y="1513775"/>
            <a:ext cx="5080500" cy="3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Sora Light"/>
                <a:ea typeface="Sora Light"/>
                <a:cs typeface="Sora Light"/>
                <a:sym typeface="Sora Light"/>
              </a:rPr>
              <a:t>Running:</a:t>
            </a:r>
            <a:endParaRPr sz="1000" u="sng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mvn exec:java -Dexec.mainClass="com.eddien03.simplecalendar.SimpleCalendarApp"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OR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java -cp target/classes com.eddien03.simplecalendar.SimpleCalendarApp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 u="sng">
                <a:latin typeface="Sora Light"/>
                <a:ea typeface="Sora Light"/>
                <a:cs typeface="Sora Light"/>
                <a:sym typeface="Sora Light"/>
              </a:rPr>
              <a:t>Testing:</a:t>
            </a:r>
            <a:endParaRPr sz="1000" u="sng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mvn test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30" name="Google Shape;930;p56"/>
          <p:cNvSpPr txBox="1"/>
          <p:nvPr>
            <p:ph idx="1" type="body"/>
          </p:nvPr>
        </p:nvSpPr>
        <p:spPr>
          <a:xfrm>
            <a:off x="115025" y="908975"/>
            <a:ext cx="5369100" cy="604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Running and Testing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7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936" name="Google Shape;936;p57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discuss any doubts or concerns.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If something comes up later, contact eddiefalcon20@gmail.com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8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